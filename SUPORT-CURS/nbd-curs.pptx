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62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99A2FE3-1FDD-4E47-D310-FED3CDFA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F49F500-8777-04A1-18B9-558063541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A677C15-7088-DBB0-E97A-8B51FCFA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880F7A8-7F74-EC0A-A01F-718F8BD67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B532F58-BC68-9448-FDB9-22B258EA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73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763131-AF4E-34E4-9E4C-A89A2C0A0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C8CEFC-B865-15BD-B7E7-C1E77C141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AE7399E-E373-4485-7404-40B6AF37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63650D2-2175-FA41-0336-C6D4BA1C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8CB38E-5CF0-1DDF-857F-F91A2CDE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80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3F70A3-1FA3-7BD4-1EC4-5089762A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0E7B0A6-900F-34EC-3F8E-5C23A0BB2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2D1F427-24CB-DE7E-8911-5FFFEE1F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1C18909-3F10-0A72-839B-1097E8A0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145F1A3-C3E5-80DE-2559-DAD5D4EA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18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4BCEC0-8B46-E6F7-AEFA-F6C04C4F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2B3D759-ACBE-FDC3-F75E-730B386B1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C609083-786C-5F71-B471-F05238F13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9A6E949-D725-4EE4-3757-DC2108CA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71607B6-8496-805D-B3A0-2CB687BA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44EDEB4-A3CF-888B-580F-4ADC2732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730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CE5381-CB67-9F5D-8102-7252816A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500C4AA-EB8A-EA2F-CF82-3FB62FB28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3813281-18B3-69C9-767E-56F3DC54D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EF7B2A9-AC47-FFFE-55D9-BB23CD9B7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7C3A63E-5050-4839-0A35-8DCF91942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6C56185-1BE8-53B5-BB88-80FFF6C46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03F5919-C836-5537-2AAA-3E6D71B0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8E0AAC0-6820-49D5-A93C-89996DD7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66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2537F6-6F11-0A43-A1B8-EFFF5C2C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9220719-6AEB-AD77-B129-D9866E1A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628E2D9-AC94-BF6D-F4B8-D9EF0DEF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C09F835-180E-08B8-8B9F-B3DB7569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04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D1488D8-6EE3-88DF-B88E-7334AC27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DC85F7C-1847-8942-888D-E6DE66A3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661BABF-0257-80B3-78A3-9969B1F3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84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09AC72-4582-2509-CFCF-F4DEB4D7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A1436E-6FCA-74E8-FC1D-3F41B1B27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04F8832-5BC2-85BE-C163-F831A154D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0F3BA15-7C9E-FE56-A33D-15B3C82F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EB92FA7-DAB2-1E0C-4263-BECED5D1F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DB49C63-18AE-91CA-D5B9-689C4B1C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22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A5563E-E196-7227-1846-15751DEF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BB59F14-D985-43D2-5A22-87FAAF113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A68A2F6-4593-FAD2-C828-1E7534AB2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D38ECD8-9DE5-01D9-4D1D-4F4EC3B2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CA3DAED-C6EF-2C87-1C27-EECD414C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D396A6D-736E-97B3-A15C-88FDD3AA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36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9B1778-3C92-43C1-5547-440F4DC8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CB6C1A5-2D8D-5F9B-EB5B-488BFFCF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6202BC7-99BA-C3A8-80E8-7E8F52A7F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AD0D734-FC85-1725-6B5D-EC662DE7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501279C-782A-82D9-2A31-65F7F961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33AE944-0BBE-6B89-8F04-BB8726BFE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D318C0C-573B-1418-A398-B0E6B5AD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552A9CA-D234-0F1C-EDD8-CD420174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317C57F-6B27-5B9C-13C6-1572C75D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C93990D-6AF8-BD56-B689-727FF03A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88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35EA045-E0CC-D6E2-2A1E-34984240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83CC0A-0A76-2243-FEDD-FE742A015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3895A17-C54F-5BC8-65D6-489DDCDF1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8CFC0-F46D-484C-9E59-8296F534AD6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1A511B0-BA90-A165-AE00-CBE74FF6F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7B6AAEB-3C7F-71B3-88D5-D67F0E9B5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7A287-429E-422E-A197-70958D18C7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906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100A9E6-D168-CC7E-1A39-D7FE4F8604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NBD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7D2C30C-196A-58B1-B542-19B9C540A4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Curs Python!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08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528164-6122-F8A4-C353-231718BA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Plan!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0A51C1B-91BC-F8C3-47BF-AA0BCD30D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A) </a:t>
            </a:r>
            <a:r>
              <a:rPr lang="en-GB" dirty="0" err="1"/>
              <a:t>Exercitii</a:t>
            </a:r>
            <a:r>
              <a:rPr lang="en-GB" dirty="0"/>
              <a:t> de </a:t>
            </a:r>
            <a:r>
              <a:rPr lang="en-GB" dirty="0" err="1"/>
              <a:t>scriere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citire</a:t>
            </a:r>
            <a:r>
              <a:rPr lang="en-GB" dirty="0"/>
              <a:t> </a:t>
            </a:r>
            <a:r>
              <a:rPr lang="en-GB" dirty="0" err="1"/>
              <a:t>structuri</a:t>
            </a:r>
            <a:r>
              <a:rPr lang="en-GB" dirty="0"/>
              <a:t> de date (</a:t>
            </a:r>
            <a:r>
              <a:rPr lang="en-GB" dirty="0" err="1"/>
              <a:t>json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altele</a:t>
            </a:r>
            <a:r>
              <a:rPr lang="en-GB" dirty="0"/>
              <a:t>). </a:t>
            </a:r>
          </a:p>
          <a:p>
            <a:r>
              <a:rPr lang="en-GB" dirty="0"/>
              <a:t>B) </a:t>
            </a:r>
            <a:r>
              <a:rPr lang="en-GB" dirty="0" err="1"/>
              <a:t>Scriere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citire</a:t>
            </a:r>
            <a:r>
              <a:rPr lang="en-GB" dirty="0"/>
              <a:t> </a:t>
            </a:r>
            <a:r>
              <a:rPr lang="en-GB" dirty="0" err="1"/>
              <a:t>fisiere</a:t>
            </a:r>
            <a:r>
              <a:rPr lang="en-GB" dirty="0"/>
              <a:t> excel, </a:t>
            </a:r>
            <a:r>
              <a:rPr lang="en-GB" dirty="0" err="1"/>
              <a:t>manipulari</a:t>
            </a:r>
            <a:r>
              <a:rPr lang="en-GB" dirty="0"/>
              <a:t> date. </a:t>
            </a:r>
          </a:p>
          <a:p>
            <a:r>
              <a:rPr lang="en-GB" dirty="0"/>
              <a:t>C) </a:t>
            </a:r>
            <a:r>
              <a:rPr lang="en-GB" dirty="0" err="1"/>
              <a:t>Generare</a:t>
            </a:r>
            <a:r>
              <a:rPr lang="en-GB" dirty="0"/>
              <a:t> date </a:t>
            </a:r>
            <a:r>
              <a:rPr lang="en-GB" dirty="0" err="1"/>
              <a:t>randomizate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manipularea</a:t>
            </a:r>
            <a:r>
              <a:rPr lang="en-GB" dirty="0"/>
              <a:t> </a:t>
            </a:r>
            <a:r>
              <a:rPr lang="en-GB" dirty="0" err="1"/>
              <a:t>fisierelor</a:t>
            </a:r>
            <a:r>
              <a:rPr lang="en-GB" dirty="0"/>
              <a:t> </a:t>
            </a:r>
            <a:r>
              <a:rPr lang="en-GB" dirty="0" err="1"/>
              <a:t>mari</a:t>
            </a:r>
            <a:r>
              <a:rPr lang="en-GB" dirty="0"/>
              <a:t>. </a:t>
            </a:r>
          </a:p>
          <a:p>
            <a:r>
              <a:rPr lang="en-GB" dirty="0"/>
              <a:t>D) </a:t>
            </a:r>
            <a:r>
              <a:rPr lang="en-GB" dirty="0" err="1"/>
              <a:t>Continuare</a:t>
            </a:r>
            <a:r>
              <a:rPr lang="en-GB" dirty="0"/>
              <a:t> </a:t>
            </a:r>
            <a:r>
              <a:rPr lang="en-GB" dirty="0" err="1"/>
              <a:t>exemple</a:t>
            </a:r>
            <a:r>
              <a:rPr lang="en-GB" dirty="0"/>
              <a:t> plus </a:t>
            </a:r>
            <a:r>
              <a:rPr lang="en-GB" dirty="0" err="1"/>
              <a:t>exercitii</a:t>
            </a:r>
            <a:r>
              <a:rPr lang="en-GB" dirty="0"/>
              <a:t>. </a:t>
            </a:r>
          </a:p>
          <a:p>
            <a:r>
              <a:rPr lang="en-GB" dirty="0"/>
              <a:t>E) </a:t>
            </a:r>
            <a:r>
              <a:rPr lang="en-GB" dirty="0" err="1"/>
              <a:t>Incepem</a:t>
            </a:r>
            <a:r>
              <a:rPr lang="en-GB" dirty="0"/>
              <a:t> </a:t>
            </a:r>
            <a:r>
              <a:rPr lang="en-GB" dirty="0" err="1"/>
              <a:t>lucrul</a:t>
            </a:r>
            <a:r>
              <a:rPr lang="en-GB" dirty="0"/>
              <a:t> cu </a:t>
            </a:r>
            <a:r>
              <a:rPr lang="en-GB" dirty="0" err="1"/>
              <a:t>interfete</a:t>
            </a:r>
            <a:r>
              <a:rPr lang="en-GB" dirty="0"/>
              <a:t> </a:t>
            </a:r>
            <a:r>
              <a:rPr lang="en-GB" dirty="0" err="1"/>
              <a:t>grafice</a:t>
            </a:r>
            <a:r>
              <a:rPr lang="en-GB" dirty="0"/>
              <a:t> (basic, </a:t>
            </a:r>
            <a:r>
              <a:rPr lang="en-GB" dirty="0" err="1"/>
              <a:t>butoane</a:t>
            </a:r>
            <a:r>
              <a:rPr lang="en-GB" dirty="0"/>
              <a:t>, </a:t>
            </a:r>
            <a:r>
              <a:rPr lang="en-GB" dirty="0" err="1"/>
              <a:t>obiecte</a:t>
            </a:r>
            <a:r>
              <a:rPr lang="en-GB" dirty="0"/>
              <a:t> de input), </a:t>
            </a:r>
          </a:p>
          <a:p>
            <a:r>
              <a:rPr lang="en-GB" dirty="0"/>
              <a:t>F) </a:t>
            </a:r>
            <a:r>
              <a:rPr lang="en-GB" dirty="0" err="1"/>
              <a:t>Avem</a:t>
            </a:r>
            <a:r>
              <a:rPr lang="en-GB" dirty="0"/>
              <a:t> o </a:t>
            </a:r>
            <a:r>
              <a:rPr lang="en-GB" dirty="0" err="1"/>
              <a:t>discutie</a:t>
            </a:r>
            <a:r>
              <a:rPr lang="en-GB" dirty="0"/>
              <a:t> </a:t>
            </a:r>
            <a:r>
              <a:rPr lang="en-GB" dirty="0" err="1"/>
              <a:t>despre</a:t>
            </a:r>
            <a:r>
              <a:rPr lang="en-GB" dirty="0"/>
              <a:t> </a:t>
            </a:r>
            <a:r>
              <a:rPr lang="en-GB" dirty="0" err="1"/>
              <a:t>domeniul</a:t>
            </a:r>
            <a:r>
              <a:rPr lang="en-GB" dirty="0"/>
              <a:t> specific al </a:t>
            </a:r>
            <a:r>
              <a:rPr lang="en-GB" dirty="0" err="1"/>
              <a:t>fiecaruia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 formula o </a:t>
            </a:r>
            <a:r>
              <a:rPr lang="en-GB" dirty="0" err="1"/>
              <a:t>tema</a:t>
            </a:r>
            <a:r>
              <a:rPr lang="en-GB" dirty="0"/>
              <a:t> de </a:t>
            </a:r>
            <a:r>
              <a:rPr lang="en-GB" dirty="0" err="1"/>
              <a:t>proiect</a:t>
            </a:r>
            <a:r>
              <a:rPr lang="en-GB" dirty="0"/>
              <a:t> individual,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catre</a:t>
            </a:r>
            <a:r>
              <a:rPr lang="en-GB" dirty="0"/>
              <a:t> </a:t>
            </a:r>
            <a:r>
              <a:rPr lang="en-GB" dirty="0" err="1"/>
              <a:t>sfarsitul</a:t>
            </a:r>
            <a:r>
              <a:rPr lang="en-GB" dirty="0"/>
              <a:t> </a:t>
            </a:r>
            <a:r>
              <a:rPr lang="en-GB" dirty="0" err="1"/>
              <a:t>cursului</a:t>
            </a:r>
            <a:r>
              <a:rPr lang="en-GB" dirty="0"/>
              <a:t> (</a:t>
            </a:r>
            <a:r>
              <a:rPr lang="en-GB" dirty="0" err="1"/>
              <a:t>dar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bine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discutam</a:t>
            </a:r>
            <a:r>
              <a:rPr lang="en-GB" dirty="0"/>
              <a:t> din </a:t>
            </a:r>
            <a:r>
              <a:rPr lang="en-GB" dirty="0" err="1"/>
              <a:t>timp</a:t>
            </a:r>
            <a:r>
              <a:rPr lang="en-GB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82875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68D7D26-B5C4-60E4-180B-DF2B8E995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96" y="340930"/>
            <a:ext cx="7471319" cy="4415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4B43F0B-45C1-D17A-8B96-F08415C87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4052"/>
            <a:ext cx="12192000" cy="17139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EC35B07-F43D-D0CA-44D2-3E7F6817CE6A}"/>
              </a:ext>
            </a:extLst>
          </p:cNvPr>
          <p:cNvSpPr txBox="1"/>
          <p:nvPr/>
        </p:nvSpPr>
        <p:spPr>
          <a:xfrm>
            <a:off x="9353550" y="602734"/>
            <a:ext cx="18478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 err="1"/>
              <a:t>Scriere</a:t>
            </a:r>
            <a:r>
              <a:rPr lang="en-GB" sz="3600" dirty="0"/>
              <a:t> JSON</a:t>
            </a:r>
          </a:p>
        </p:txBody>
      </p:sp>
    </p:spTree>
    <p:extLst>
      <p:ext uri="{BB962C8B-B14F-4D97-AF65-F5344CB8AC3E}">
        <p14:creationId xmlns:p14="http://schemas.microsoft.com/office/powerpoint/2010/main" val="382001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57338D1-DA3E-465A-7428-666B3EC72F12}"/>
              </a:ext>
            </a:extLst>
          </p:cNvPr>
          <p:cNvSpPr txBox="1"/>
          <p:nvPr/>
        </p:nvSpPr>
        <p:spPr>
          <a:xfrm>
            <a:off x="2095500" y="780534"/>
            <a:ext cx="1511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 err="1"/>
              <a:t>Citire</a:t>
            </a:r>
            <a:r>
              <a:rPr lang="en-GB" sz="3600" dirty="0"/>
              <a:t> JSON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FD3D8A3-5DD4-2FA4-DF69-2E61B62DE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2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84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F141C6D-47E5-7F16-EE9E-7D6059336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3153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E07B159-7E2A-C876-5D08-D9ECE3A4A6A6}"/>
              </a:ext>
            </a:extLst>
          </p:cNvPr>
          <p:cNvSpPr txBox="1"/>
          <p:nvPr/>
        </p:nvSpPr>
        <p:spPr>
          <a:xfrm>
            <a:off x="7943850" y="793234"/>
            <a:ext cx="35877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 err="1"/>
              <a:t>Exemplu</a:t>
            </a:r>
            <a:r>
              <a:rPr lang="en-GB" sz="3600" dirty="0"/>
              <a:t> </a:t>
            </a:r>
            <a:r>
              <a:rPr lang="en-GB" sz="3600" dirty="0" err="1"/>
              <a:t>combinat</a:t>
            </a:r>
            <a:r>
              <a:rPr lang="en-GB" sz="3600" dirty="0"/>
              <a:t> (JSON + </a:t>
            </a:r>
            <a:r>
              <a:rPr lang="en-GB" sz="3600" dirty="0" err="1"/>
              <a:t>procesare</a:t>
            </a:r>
            <a:r>
              <a:rPr lang="en-GB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9490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FECE008-19AB-5D4E-6C97-A80D0BD63EC7}"/>
              </a:ext>
            </a:extLst>
          </p:cNvPr>
          <p:cNvSpPr txBox="1"/>
          <p:nvPr/>
        </p:nvSpPr>
        <p:spPr>
          <a:xfrm>
            <a:off x="8147050" y="640834"/>
            <a:ext cx="35179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/>
              <a:t>Excel </a:t>
            </a:r>
          </a:p>
          <a:p>
            <a:r>
              <a:rPr lang="en-GB" sz="3600" dirty="0" err="1"/>
              <a:t>citire</a:t>
            </a:r>
            <a:r>
              <a:rPr lang="en-GB" sz="3600" dirty="0"/>
              <a:t>, </a:t>
            </a:r>
            <a:r>
              <a:rPr lang="en-GB" sz="3600" dirty="0" err="1"/>
              <a:t>scriere</a:t>
            </a:r>
            <a:r>
              <a:rPr lang="en-GB" sz="3600" dirty="0"/>
              <a:t>, </a:t>
            </a:r>
            <a:r>
              <a:rPr lang="en-GB" sz="3600" dirty="0" err="1"/>
              <a:t>manipulare</a:t>
            </a:r>
            <a:endParaRPr lang="en-GB" sz="3600" dirty="0"/>
          </a:p>
          <a:p>
            <a:endParaRPr lang="en-GB" sz="3600" dirty="0"/>
          </a:p>
          <a:p>
            <a:r>
              <a:rPr lang="en-GB" sz="3600" dirty="0"/>
              <a:t>(de </a:t>
            </a:r>
            <a:r>
              <a:rPr lang="en-GB" sz="3600" dirty="0" err="1"/>
              <a:t>testat</a:t>
            </a:r>
            <a:r>
              <a:rPr lang="en-GB" sz="3600" dirty="0"/>
              <a:t> local)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027DB7FC-C084-C6EE-D940-D0FB8ADE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47857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95EF9D6-5CDC-BE38-AD03-4AEB02D07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4032157"/>
            <a:ext cx="2905530" cy="13336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0B60CAF-754E-133A-EBAC-1AF907325D7C}"/>
              </a:ext>
            </a:extLst>
          </p:cNvPr>
          <p:cNvSpPr txBox="1"/>
          <p:nvPr/>
        </p:nvSpPr>
        <p:spPr>
          <a:xfrm>
            <a:off x="10052455" y="67965"/>
            <a:ext cx="2038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pip install pandas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85F32E8-4725-A17E-214D-F2E6EBA16A53}"/>
              </a:ext>
            </a:extLst>
          </p:cNvPr>
          <p:cNvSpPr txBox="1"/>
          <p:nvPr/>
        </p:nvSpPr>
        <p:spPr>
          <a:xfrm>
            <a:off x="8286750" y="5995769"/>
            <a:ext cx="3187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import pandas as pd</a:t>
            </a:r>
          </a:p>
          <a:p>
            <a:r>
              <a:rPr lang="en-GB" dirty="0"/>
              <a:t>print(</a:t>
            </a:r>
            <a:r>
              <a:rPr lang="en-GB" dirty="0" err="1"/>
              <a:t>pd.__version</a:t>
            </a:r>
            <a:r>
              <a:rPr lang="en-GB" dirty="0"/>
              <a:t>__)</a:t>
            </a:r>
          </a:p>
        </p:txBody>
      </p:sp>
    </p:spTree>
    <p:extLst>
      <p:ext uri="{BB962C8B-B14F-4D97-AF65-F5344CB8AC3E}">
        <p14:creationId xmlns:p14="http://schemas.microsoft.com/office/powerpoint/2010/main" val="4182492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D769EEA-D946-179F-08D4-47BB78901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618" y="0"/>
            <a:ext cx="406238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C8D1549F-FDE0-A173-0365-C6C25AD85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31" y="277539"/>
            <a:ext cx="7273303" cy="27704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66A50D6-4D7E-7801-3567-388C8D547942}"/>
              </a:ext>
            </a:extLst>
          </p:cNvPr>
          <p:cNvSpPr txBox="1"/>
          <p:nvPr/>
        </p:nvSpPr>
        <p:spPr>
          <a:xfrm>
            <a:off x="1168400" y="441908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Generare date </a:t>
            </a:r>
          </a:p>
          <a:p>
            <a:r>
              <a:rPr lang="it-IT" sz="3600" dirty="0"/>
              <a:t>random + fișiere mari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06180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3E8D89-63E3-5E2C-E7F9-907F4377B787}"/>
              </a:ext>
            </a:extLst>
          </p:cNvPr>
          <p:cNvSpPr txBox="1"/>
          <p:nvPr/>
        </p:nvSpPr>
        <p:spPr>
          <a:xfrm>
            <a:off x="1200150" y="4806434"/>
            <a:ext cx="38417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 err="1"/>
              <a:t>Procesare</a:t>
            </a:r>
            <a:r>
              <a:rPr lang="en-GB" sz="3600" dirty="0"/>
              <a:t> </a:t>
            </a:r>
            <a:r>
              <a:rPr lang="en-GB" sz="3600" dirty="0" err="1"/>
              <a:t>fără</a:t>
            </a:r>
            <a:r>
              <a:rPr lang="en-GB" sz="3600" dirty="0"/>
              <a:t> a </a:t>
            </a:r>
            <a:r>
              <a:rPr lang="en-GB" sz="3600" dirty="0" err="1"/>
              <a:t>încărca</a:t>
            </a:r>
            <a:r>
              <a:rPr lang="en-GB" sz="3600" dirty="0"/>
              <a:t> tot </a:t>
            </a:r>
            <a:r>
              <a:rPr lang="en-GB" sz="3600" dirty="0" err="1"/>
              <a:t>în</a:t>
            </a:r>
            <a:r>
              <a:rPr lang="en-GB" sz="3600" dirty="0"/>
              <a:t> </a:t>
            </a:r>
            <a:r>
              <a:rPr lang="en-GB" sz="3600" dirty="0" err="1"/>
              <a:t>memorie</a:t>
            </a:r>
            <a:endParaRPr lang="en-GB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D06A596-DD61-B2D3-1E14-AEE7B1C49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75" y="171157"/>
            <a:ext cx="8954750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38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B0E639C-61D1-EB74-F186-183832276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53" y="350549"/>
            <a:ext cx="7341667" cy="58978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B05F51A-3870-0075-C920-16408C1851DF}"/>
              </a:ext>
            </a:extLst>
          </p:cNvPr>
          <p:cNvSpPr txBox="1"/>
          <p:nvPr/>
        </p:nvSpPr>
        <p:spPr>
          <a:xfrm>
            <a:off x="8108950" y="350549"/>
            <a:ext cx="393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root = fereastra principală a aplicației.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1F75ACB-D5D1-26D3-821F-3506F6F130E8}"/>
              </a:ext>
            </a:extLst>
          </p:cNvPr>
          <p:cNvSpPr txBox="1"/>
          <p:nvPr/>
        </p:nvSpPr>
        <p:spPr>
          <a:xfrm>
            <a:off x="8108950" y="922635"/>
            <a:ext cx="39814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tk.Entry</a:t>
            </a:r>
            <a:r>
              <a:rPr lang="en-GB" dirty="0"/>
              <a:t>(root) = </a:t>
            </a:r>
            <a:r>
              <a:rPr lang="en-GB" dirty="0" err="1"/>
              <a:t>creează</a:t>
            </a:r>
            <a:r>
              <a:rPr lang="en-GB" dirty="0"/>
              <a:t> un </a:t>
            </a:r>
            <a:r>
              <a:rPr lang="en-GB" dirty="0" err="1"/>
              <a:t>câmp</a:t>
            </a:r>
            <a:r>
              <a:rPr lang="en-GB" dirty="0"/>
              <a:t> de text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fereastra</a:t>
            </a:r>
            <a:r>
              <a:rPr lang="en-GB" dirty="0"/>
              <a:t> root</a:t>
            </a:r>
          </a:p>
          <a:p>
            <a:endParaRPr lang="en-GB" dirty="0"/>
          </a:p>
          <a:p>
            <a:r>
              <a:rPr lang="en-GB" dirty="0" err="1"/>
              <a:t>entry.pack</a:t>
            </a:r>
            <a:r>
              <a:rPr lang="en-GB" dirty="0"/>
              <a:t>() = </a:t>
            </a:r>
            <a:r>
              <a:rPr lang="en-GB" dirty="0" err="1"/>
              <a:t>spune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fie pus (</a:t>
            </a:r>
            <a:r>
              <a:rPr lang="en-GB" dirty="0" err="1"/>
              <a:t>îl</a:t>
            </a:r>
            <a:r>
              <a:rPr lang="en-GB" dirty="0"/>
              <a:t> </a:t>
            </a:r>
            <a:r>
              <a:rPr lang="en-GB" dirty="0" err="1"/>
              <a:t>afișează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fereastră</a:t>
            </a:r>
            <a:r>
              <a:rPr lang="en-GB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1EE86E1-736D-647A-92DE-FF18315CBD64}"/>
              </a:ext>
            </a:extLst>
          </p:cNvPr>
          <p:cNvSpPr txBox="1"/>
          <p:nvPr/>
        </p:nvSpPr>
        <p:spPr>
          <a:xfrm>
            <a:off x="8013700" y="3299474"/>
            <a:ext cx="35242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Entry = input</a:t>
            </a:r>
          </a:p>
          <a:p>
            <a:r>
              <a:rPr lang="en-GB" dirty="0"/>
              <a:t>root =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apare</a:t>
            </a:r>
            <a:endParaRPr lang="en-GB" dirty="0"/>
          </a:p>
          <a:p>
            <a:r>
              <a:rPr lang="en-GB" dirty="0"/>
              <a:t>pack() = </a:t>
            </a:r>
            <a:r>
              <a:rPr lang="en-GB" dirty="0" err="1"/>
              <a:t>îl</a:t>
            </a:r>
            <a:r>
              <a:rPr lang="en-GB" dirty="0"/>
              <a:t> face </a:t>
            </a:r>
            <a:r>
              <a:rPr lang="en-GB" dirty="0" err="1"/>
              <a:t>vizibil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857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2D4EFE2-9378-67DD-D93D-E0FF52ACA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7136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7FEDF35-0A79-BE33-5A4E-F02C22027EEE}"/>
              </a:ext>
            </a:extLst>
          </p:cNvPr>
          <p:cNvSpPr txBox="1"/>
          <p:nvPr/>
        </p:nvSpPr>
        <p:spPr>
          <a:xfrm>
            <a:off x="7435850" y="680135"/>
            <a:ext cx="4057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x, y → </a:t>
            </a:r>
            <a:r>
              <a:rPr lang="en-GB" dirty="0" err="1"/>
              <a:t>poziție</a:t>
            </a:r>
            <a:endParaRPr lang="en-GB" dirty="0"/>
          </a:p>
          <a:p>
            <a:r>
              <a:rPr lang="en-GB" dirty="0"/>
              <a:t>width, height → </a:t>
            </a:r>
            <a:r>
              <a:rPr lang="en-GB" dirty="0" err="1"/>
              <a:t>dimensiune</a:t>
            </a:r>
            <a:endParaRPr lang="en-GB" dirty="0"/>
          </a:p>
          <a:p>
            <a:r>
              <a:rPr lang="en-GB" dirty="0"/>
              <a:t>geometry() → </a:t>
            </a:r>
            <a:r>
              <a:rPr lang="en-GB" dirty="0" err="1"/>
              <a:t>dimensiunea</a:t>
            </a:r>
            <a:r>
              <a:rPr lang="en-GB" dirty="0"/>
              <a:t> </a:t>
            </a:r>
            <a:r>
              <a:rPr lang="en-GB" dirty="0" err="1"/>
              <a:t>ferestrei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5F8C631-E6C3-53EE-30BA-FD30ABEDE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392" y="2404919"/>
            <a:ext cx="3696216" cy="20481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076E51C-D2C1-9AF3-0223-F254A6874D19}"/>
              </a:ext>
            </a:extLst>
          </p:cNvPr>
          <p:cNvSpPr txBox="1"/>
          <p:nvPr/>
        </p:nvSpPr>
        <p:spPr>
          <a:xfrm>
            <a:off x="7992952" y="5684880"/>
            <a:ext cx="3572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Dimensiuni</a:t>
            </a:r>
            <a:r>
              <a:rPr lang="en-GB" dirty="0"/>
              <a:t> </a:t>
            </a:r>
            <a:r>
              <a:rPr lang="en-GB" dirty="0" err="1"/>
              <a:t>exacte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5331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2726598-3E0A-6FDF-84E2-79CF633E3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44" y="413994"/>
            <a:ext cx="5320006" cy="62368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BD5E26B-464C-DE47-3EC7-9105B9074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635" y="955535"/>
            <a:ext cx="2724530" cy="20005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D0ECB8B-B263-09BE-3257-7C33C5F6B241}"/>
              </a:ext>
            </a:extLst>
          </p:cNvPr>
          <p:cNvSpPr txBox="1"/>
          <p:nvPr/>
        </p:nvSpPr>
        <p:spPr>
          <a:xfrm>
            <a:off x="8118285" y="4717534"/>
            <a:ext cx="2573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Calculator</a:t>
            </a:r>
          </a:p>
        </p:txBody>
      </p:sp>
    </p:spTree>
    <p:extLst>
      <p:ext uri="{BB962C8B-B14F-4D97-AF65-F5344CB8AC3E}">
        <p14:creationId xmlns:p14="http://schemas.microsoft.com/office/powerpoint/2010/main" val="875969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71C4544-4832-8A92-2EDF-0CB4D1A1A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95" y="4359138"/>
            <a:ext cx="2753109" cy="19624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5974D536-D6EB-C32A-56D0-D2A047854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749" y="468834"/>
            <a:ext cx="6834501" cy="59203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276F671-0C54-71C8-2822-063F36A0E335}"/>
              </a:ext>
            </a:extLst>
          </p:cNvPr>
          <p:cNvSpPr txBox="1"/>
          <p:nvPr/>
        </p:nvSpPr>
        <p:spPr>
          <a:xfrm>
            <a:off x="965200" y="1771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Schimbare</a:t>
            </a:r>
            <a:r>
              <a:rPr lang="en-GB" dirty="0"/>
              <a:t> </a:t>
            </a:r>
            <a:r>
              <a:rPr lang="en-GB" dirty="0" err="1"/>
              <a:t>culoare</a:t>
            </a:r>
            <a:r>
              <a:rPr lang="en-GB" dirty="0"/>
              <a:t> fundal</a:t>
            </a:r>
          </a:p>
        </p:txBody>
      </p:sp>
    </p:spTree>
    <p:extLst>
      <p:ext uri="{BB962C8B-B14F-4D97-AF65-F5344CB8AC3E}">
        <p14:creationId xmlns:p14="http://schemas.microsoft.com/office/powerpoint/2010/main" val="1360628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201DAE5-D4EB-2A07-7EA2-75AF46ADD016}"/>
              </a:ext>
            </a:extLst>
          </p:cNvPr>
          <p:cNvSpPr txBox="1"/>
          <p:nvPr/>
        </p:nvSpPr>
        <p:spPr>
          <a:xfrm>
            <a:off x="1727200" y="1186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Verificare</a:t>
            </a:r>
            <a:r>
              <a:rPr lang="en-GB" dirty="0"/>
              <a:t> </a:t>
            </a:r>
            <a:r>
              <a:rPr lang="en-GB" dirty="0" err="1"/>
              <a:t>parolă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0F06CF4-2BFE-C321-E129-B4E03E797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932" y="4179775"/>
            <a:ext cx="2762636" cy="1609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949DB951-6836-D1F7-DD47-30A88729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580" y="348368"/>
            <a:ext cx="6472569" cy="616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48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950C38-9292-B593-7CA0-4EB9A0A4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462601E-B0A7-1762-C8B9-751F8136F27B}"/>
              </a:ext>
            </a:extLst>
          </p:cNvPr>
          <p:cNvSpPr txBox="1"/>
          <p:nvPr/>
        </p:nvSpPr>
        <p:spPr>
          <a:xfrm>
            <a:off x="1803400" y="14282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Citire</a:t>
            </a:r>
            <a:r>
              <a:rPr lang="en-GB" dirty="0"/>
              <a:t> </a:t>
            </a:r>
            <a:r>
              <a:rPr lang="en-GB" dirty="0" err="1"/>
              <a:t>fișier</a:t>
            </a:r>
            <a:r>
              <a:rPr lang="en-GB" dirty="0"/>
              <a:t>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CE39D3E-4735-A5D8-332F-8144A7B01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34" y="4200388"/>
            <a:ext cx="3696216" cy="19624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A52C76F-3C9C-527C-EE2A-913BFA78F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477" y="337881"/>
            <a:ext cx="6449323" cy="4564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71C6BBE-FB7C-4F04-6275-128ECF7AC315}"/>
              </a:ext>
            </a:extLst>
          </p:cNvPr>
          <p:cNvSpPr txBox="1"/>
          <p:nvPr/>
        </p:nvSpPr>
        <p:spPr>
          <a:xfrm>
            <a:off x="1212850" y="2537312"/>
            <a:ext cx="39426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Slice:</a:t>
            </a:r>
          </a:p>
          <a:p>
            <a:r>
              <a:rPr lang="en-GB" dirty="0"/>
              <a:t>text[10:20]   # de la 10 la 20</a:t>
            </a:r>
          </a:p>
          <a:p>
            <a:r>
              <a:rPr lang="en-GB" dirty="0"/>
              <a:t>text[5:]      # de la 5 </a:t>
            </a:r>
            <a:r>
              <a:rPr lang="en-GB" dirty="0" err="1"/>
              <a:t>până</a:t>
            </a:r>
            <a:r>
              <a:rPr lang="en-GB" dirty="0"/>
              <a:t> la final</a:t>
            </a:r>
          </a:p>
          <a:p>
            <a:r>
              <a:rPr lang="en-GB" dirty="0"/>
              <a:t>text[-10:]    # </a:t>
            </a:r>
            <a:r>
              <a:rPr lang="en-GB" dirty="0" err="1"/>
              <a:t>ultimele</a:t>
            </a:r>
            <a:r>
              <a:rPr lang="en-GB" dirty="0"/>
              <a:t> 10 </a:t>
            </a:r>
            <a:r>
              <a:rPr lang="en-GB" dirty="0" err="1"/>
              <a:t>caractere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D2BED34-A0DB-70EF-BFE3-AE212DC75215}"/>
              </a:ext>
            </a:extLst>
          </p:cNvPr>
          <p:cNvSpPr txBox="1"/>
          <p:nvPr/>
        </p:nvSpPr>
        <p:spPr>
          <a:xfrm>
            <a:off x="5822950" y="56232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text[:50] </a:t>
            </a:r>
            <a:r>
              <a:rPr lang="en-GB" dirty="0" err="1"/>
              <a:t>afișează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b="1" dirty="0" err="1"/>
              <a:t>primele</a:t>
            </a:r>
            <a:r>
              <a:rPr lang="en-GB" b="1" dirty="0"/>
              <a:t> 50 </a:t>
            </a:r>
            <a:r>
              <a:rPr lang="en-GB" b="1" dirty="0" err="1"/>
              <a:t>caractere</a:t>
            </a:r>
            <a:r>
              <a:rPr lang="en-GB" dirty="0"/>
              <a:t> din </a:t>
            </a:r>
            <a:r>
              <a:rPr lang="en-GB" dirty="0" err="1"/>
              <a:t>fișier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0422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5BB020B-D368-C218-6ADB-FD54930A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5B26209-DC4C-7AF3-7D0B-C921976B4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75" y="552189"/>
            <a:ext cx="5553850" cy="3734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950F11D-A982-892D-058A-38A5E484D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800" y="4632190"/>
            <a:ext cx="3581900" cy="19243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1442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67C8E01-2F5D-786E-4F07-5DF8BE13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3C253BDC-B679-B345-5E5D-B21C979F3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85" y="399789"/>
            <a:ext cx="5220429" cy="54681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325CDB2-F28B-200D-075A-C06E3E9FD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993" y="658600"/>
            <a:ext cx="4639322" cy="30388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0640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9262430-D11E-A11B-5556-ED7BD7745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825" y="137677"/>
            <a:ext cx="5515745" cy="41058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13A723C-FBDF-CD4E-ECB3-D34B16290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59" y="324322"/>
            <a:ext cx="5584737" cy="292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75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C719F4B-C956-5034-D0EF-524D7DBE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700A202-2B55-8BCC-82DD-053D06A60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09" y="283016"/>
            <a:ext cx="6658685" cy="37487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4BFF345-7705-DE88-2160-62E032C00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479" y="283016"/>
            <a:ext cx="4773460" cy="364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33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E68A621-3306-1FC7-8860-8A0E4E99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24A95B4-5945-8D94-9E11-2C12CC4A1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27" y="332544"/>
            <a:ext cx="5841765" cy="3438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86155D2-CD02-B9D0-FA0B-DB4FE7E86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623" y="2523520"/>
            <a:ext cx="5744377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86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F34D19B-48CC-EF30-A92A-4D5F13AC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8EBC7A8E-79F6-1406-9512-8002FFABF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3" y="161683"/>
            <a:ext cx="8474112" cy="3165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AE0C104-871D-31D8-F2CF-A1C45B151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166" y="2161223"/>
            <a:ext cx="5449060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38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053939B-B420-F058-8FE6-A281BCDA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700BCD4-E3AC-4A9A-25BE-7EBDAC40A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2" y="282767"/>
            <a:ext cx="6636470" cy="3281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8633CF4-D512-AF05-464D-0D31D233D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274" y="2288983"/>
            <a:ext cx="5734850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65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FEF1E00-25BA-83A7-37FE-22E0DC8E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894366E-A2D2-670B-884C-9ECC7AF1277C}"/>
              </a:ext>
            </a:extLst>
          </p:cNvPr>
          <p:cNvSpPr txBox="1"/>
          <p:nvPr/>
        </p:nvSpPr>
        <p:spPr>
          <a:xfrm>
            <a:off x="596247" y="4430126"/>
            <a:ext cx="6094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luna,vanzari</a:t>
            </a:r>
            <a:endParaRPr lang="en-GB" dirty="0"/>
          </a:p>
          <a:p>
            <a:r>
              <a:rPr lang="en-GB" dirty="0"/>
              <a:t>Ian,100</a:t>
            </a:r>
          </a:p>
          <a:p>
            <a:r>
              <a:rPr lang="en-GB" dirty="0"/>
              <a:t>Feb,120</a:t>
            </a:r>
          </a:p>
          <a:p>
            <a:r>
              <a:rPr lang="en-GB" dirty="0"/>
              <a:t>Mar,115</a:t>
            </a:r>
          </a:p>
          <a:p>
            <a:r>
              <a:rPr lang="en-GB" dirty="0"/>
              <a:t>Apr,140</a:t>
            </a:r>
          </a:p>
          <a:p>
            <a:r>
              <a:rPr lang="en-GB" dirty="0"/>
              <a:t>Mai,160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FAC8043-6EA7-11CD-57B7-4D0F623EBBE6}"/>
              </a:ext>
            </a:extLst>
          </p:cNvPr>
          <p:cNvSpPr txBox="1"/>
          <p:nvPr/>
        </p:nvSpPr>
        <p:spPr>
          <a:xfrm>
            <a:off x="596247" y="3784018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Date din CSV + line plot</a:t>
            </a:r>
          </a:p>
          <a:p>
            <a:r>
              <a:rPr lang="en-GB" dirty="0"/>
              <a:t>CSV vanzari.csv: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7F9D23E-34D3-D7FA-410D-69DE2BABD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47" y="445695"/>
            <a:ext cx="4798754" cy="3168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CF7415C-0E73-4EC3-73DC-99B88BEB0D54}"/>
              </a:ext>
            </a:extLst>
          </p:cNvPr>
          <p:cNvSpPr txBox="1"/>
          <p:nvPr/>
        </p:nvSpPr>
        <p:spPr>
          <a:xfrm>
            <a:off x="7554799" y="1476022"/>
            <a:ext cx="348398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Adaptati</a:t>
            </a:r>
            <a:r>
              <a:rPr lang="en-GB" dirty="0"/>
              <a:t> </a:t>
            </a:r>
            <a:r>
              <a:rPr lang="en-GB" dirty="0" err="1" smtClean="0"/>
              <a:t>calea</a:t>
            </a:r>
            <a:endParaRPr lang="en-GB" dirty="0" smtClean="0"/>
          </a:p>
          <a:p>
            <a:endParaRPr lang="en-GB" dirty="0"/>
          </a:p>
          <a:p>
            <a:pPr marL="342900" indent="-342900">
              <a:buAutoNum type="arabicPeriod"/>
            </a:pPr>
            <a:r>
              <a:rPr lang="en-GB" dirty="0" err="1" smtClean="0"/>
              <a:t>Adaugam</a:t>
            </a:r>
            <a:r>
              <a:rPr lang="en-GB" dirty="0" smtClean="0"/>
              <a:t> o a </a:t>
            </a:r>
            <a:r>
              <a:rPr lang="en-GB" dirty="0" err="1" smtClean="0"/>
              <a:t>doua</a:t>
            </a:r>
            <a:r>
              <a:rPr lang="en-GB" dirty="0" smtClean="0"/>
              <a:t> </a:t>
            </a:r>
            <a:r>
              <a:rPr lang="en-GB" dirty="0" err="1" smtClean="0"/>
              <a:t>coloana</a:t>
            </a:r>
            <a:r>
              <a:rPr lang="en-GB" dirty="0" smtClean="0"/>
              <a:t>, “Target” </a:t>
            </a:r>
            <a:r>
              <a:rPr lang="en-GB" dirty="0" err="1" smtClean="0"/>
              <a:t>si</a:t>
            </a:r>
            <a:r>
              <a:rPr lang="en-GB" dirty="0" smtClean="0"/>
              <a:t> </a:t>
            </a:r>
            <a:r>
              <a:rPr lang="en-GB" dirty="0" err="1" smtClean="0"/>
              <a:t>inseram</a:t>
            </a:r>
            <a:r>
              <a:rPr lang="en-GB" dirty="0" smtClean="0"/>
              <a:t> </a:t>
            </a:r>
            <a:r>
              <a:rPr lang="en-GB" dirty="0" err="1" smtClean="0"/>
              <a:t>numere</a:t>
            </a:r>
            <a:r>
              <a:rPr lang="en-GB" dirty="0" smtClean="0"/>
              <a:t> </a:t>
            </a:r>
            <a:r>
              <a:rPr lang="en-GB" dirty="0" err="1" smtClean="0"/>
              <a:t>aleatorii</a:t>
            </a:r>
            <a:r>
              <a:rPr lang="en-GB" dirty="0" smtClean="0"/>
              <a:t>.</a:t>
            </a:r>
          </a:p>
          <a:p>
            <a:pPr marL="342900" indent="-342900">
              <a:buAutoNum type="arabicPeriod"/>
            </a:pPr>
            <a:r>
              <a:rPr lang="en-GB" dirty="0" err="1" smtClean="0"/>
              <a:t>Folositi</a:t>
            </a:r>
            <a:r>
              <a:rPr lang="en-GB" smtClean="0"/>
              <a:t> Spectral </a:t>
            </a:r>
            <a:r>
              <a:rPr lang="en-GB" dirty="0" smtClean="0"/>
              <a:t>Forecast. </a:t>
            </a:r>
            <a:r>
              <a:rPr lang="en-GB" dirty="0" err="1" smtClean="0"/>
              <a:t>Semnalul</a:t>
            </a:r>
            <a:r>
              <a:rPr lang="en-GB" dirty="0" smtClean="0"/>
              <a:t> A </a:t>
            </a:r>
            <a:r>
              <a:rPr lang="en-GB" dirty="0" err="1" smtClean="0"/>
              <a:t>va</a:t>
            </a:r>
            <a:r>
              <a:rPr lang="en-GB" dirty="0" smtClean="0"/>
              <a:t> fi </a:t>
            </a:r>
            <a:r>
              <a:rPr lang="en-GB" dirty="0" err="1" smtClean="0"/>
              <a:t>reprezentat</a:t>
            </a:r>
            <a:r>
              <a:rPr lang="en-GB" dirty="0" smtClean="0"/>
              <a:t> de </a:t>
            </a:r>
            <a:r>
              <a:rPr lang="en-GB" dirty="0" err="1" smtClean="0"/>
              <a:t>coloana</a:t>
            </a:r>
            <a:r>
              <a:rPr lang="en-GB" dirty="0" smtClean="0"/>
              <a:t> “</a:t>
            </a:r>
            <a:r>
              <a:rPr lang="en-GB" dirty="0" err="1" smtClean="0"/>
              <a:t>Vanzari</a:t>
            </a:r>
            <a:r>
              <a:rPr lang="en-GB" dirty="0" smtClean="0"/>
              <a:t>” </a:t>
            </a:r>
            <a:r>
              <a:rPr lang="en-GB" dirty="0" err="1" smtClean="0"/>
              <a:t>iar</a:t>
            </a:r>
            <a:r>
              <a:rPr lang="en-GB" dirty="0" smtClean="0"/>
              <a:t> </a:t>
            </a:r>
            <a:r>
              <a:rPr lang="en-GB" dirty="0" err="1" smtClean="0"/>
              <a:t>semnalul</a:t>
            </a:r>
            <a:r>
              <a:rPr lang="en-GB" dirty="0" smtClean="0"/>
              <a:t> B </a:t>
            </a:r>
            <a:r>
              <a:rPr lang="en-GB" dirty="0" err="1" smtClean="0"/>
              <a:t>va</a:t>
            </a:r>
            <a:r>
              <a:rPr lang="en-GB" dirty="0" smtClean="0"/>
              <a:t> fi </a:t>
            </a:r>
            <a:r>
              <a:rPr lang="en-GB" dirty="0" err="1" smtClean="0"/>
              <a:t>reprezentat</a:t>
            </a:r>
            <a:r>
              <a:rPr lang="en-GB" dirty="0" smtClean="0"/>
              <a:t> de </a:t>
            </a:r>
            <a:r>
              <a:rPr lang="en-GB" dirty="0" err="1" smtClean="0"/>
              <a:t>coloana</a:t>
            </a:r>
            <a:r>
              <a:rPr lang="en-GB" dirty="0" smtClean="0"/>
              <a:t> “Target”.</a:t>
            </a:r>
          </a:p>
          <a:p>
            <a:pPr marL="342900" indent="-342900">
              <a:buAutoNum type="arabicPeriod"/>
            </a:pPr>
            <a:r>
              <a:rPr lang="en-GB" dirty="0" err="1" smtClean="0"/>
              <a:t>Plotati</a:t>
            </a:r>
            <a:r>
              <a:rPr lang="en-GB" dirty="0" smtClean="0"/>
              <a:t> </a:t>
            </a:r>
            <a:r>
              <a:rPr lang="en-GB" dirty="0" err="1" smtClean="0"/>
              <a:t>semnalul</a:t>
            </a:r>
            <a:r>
              <a:rPr lang="en-GB" dirty="0" smtClean="0"/>
              <a:t> M </a:t>
            </a:r>
            <a:r>
              <a:rPr lang="en-GB" dirty="0" err="1" smtClean="0"/>
              <a:t>pentru</a:t>
            </a:r>
            <a:r>
              <a:rPr lang="en-GB" dirty="0" smtClean="0"/>
              <a:t> d = 50.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0096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298BF5E-4CD8-DEA6-14D9-F7B9B22C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6102D40-169A-11FB-3AA6-2EB761CDC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02" y="207390"/>
            <a:ext cx="5525158" cy="35967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19F40AD-2FE3-B453-5EB4-5937A2379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02" y="3804124"/>
            <a:ext cx="6096001" cy="268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0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7BA02F3-625F-F445-71F7-9C9AE7929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902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FB5A3F7-F79D-49C8-34CE-2E578D490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038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2EA55E1-4C9E-9DA6-A113-0B1730C7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21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45D06A2-0498-01CD-D9BB-0CF2D874C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741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D1B02D9-20ED-E4FC-71A1-F47C5D6A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804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DCBDFEE-04C0-969A-18FF-575AF5FA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864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30918AE-518C-AA83-1CEE-5DFC5001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928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45B2CEF-AB24-FEF8-C70C-1E86E101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561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70E265B-430E-877D-7895-B23D07D1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543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8BE4AFE-DA00-7B4C-8160-55AFEF7B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797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9B67E1D-E354-21AA-F02D-77B19F30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017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7C5D7FC-A1A2-F76A-98AC-0C2F422B4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88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316</Words>
  <Application>Microsoft Office PowerPoint</Application>
  <PresentationFormat>Widescreen</PresentationFormat>
  <Paragraphs>56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NBD</vt:lpstr>
      <vt:lpstr>Plan!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NBD</dc:title>
  <dc:creator>Paul Gagniuc</dc:creator>
  <cp:lastModifiedBy>Elitebook</cp:lastModifiedBy>
  <cp:revision>19</cp:revision>
  <dcterms:created xsi:type="dcterms:W3CDTF">2026-04-16T08:23:01Z</dcterms:created>
  <dcterms:modified xsi:type="dcterms:W3CDTF">2026-04-23T13:25:50Z</dcterms:modified>
</cp:coreProperties>
</file>